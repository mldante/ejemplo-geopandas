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BM Plex Mono Bold" charset="1" panose="020B0809050203000203"/>
      <p:regular r:id="rId15"/>
    </p:embeddedFont>
    <p:embeddedFont>
      <p:font typeface="IBM Plex Mono" charset="1" panose="020B0509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diferencia fundamental es que el GeoDataFrame no solo almacena información descriptiva, sino que entiende relaciones espaciales entre los elementos.</a:t>
            </a:r>
          </a:p>
          <a:p>
            <a:r>
              <a:rPr lang="en-US"/>
              <a:t/>
            </a:r>
          </a:p>
          <a:p>
            <a:r>
              <a:rPr lang="en-US"/>
              <a:t>Gracias a esto, es posible realizar operaciones como intersecciones, uniones espaciales y cálculos de área o distancia.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GeoPandas integra estas herramientas dentro de una estructura tipo DataFrame, permitiendo realizar análisis espacial de forma estructurada y eficiente.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to_crs()</a:t>
            </a:r>
          </a:p>
          <a:p>
            <a:r>
              <a:rPr lang="en-US"/>
              <a:t>Permite transformar el sistema de coordenadas de un GeoDataFrame.</a:t>
            </a:r>
          </a:p>
          <a:p>
            <a:r>
              <a:rPr lang="en-US"/>
              <a:t/>
            </a:r>
          </a:p>
          <a:p>
            <a:r>
              <a:rPr lang="en-US"/>
              <a:t>sjoin()</a:t>
            </a:r>
          </a:p>
          <a:p>
            <a:r>
              <a:rPr lang="en-US"/>
              <a:t>Permite realizar uniones espaciales entre capas según relaciones como “within”, “intersects” o “contains”.</a:t>
            </a:r>
          </a:p>
          <a:p>
            <a:r>
              <a:rPr lang="en-US"/>
              <a:t/>
            </a:r>
          </a:p>
          <a:p>
            <a:r>
              <a:rPr lang="en-US"/>
              <a:t>buffer()</a:t>
            </a:r>
          </a:p>
          <a:p>
            <a:r>
              <a:rPr lang="en-US"/>
              <a:t>Permite generar zonas de influencia alrededor de una geometría.</a:t>
            </a:r>
          </a:p>
          <a:p>
            <a:r>
              <a:rPr lang="en-US"/>
              <a:t/>
            </a:r>
          </a:p>
          <a:p>
            <a:r>
              <a:rPr lang="en-US"/>
              <a:t>difference()</a:t>
            </a:r>
          </a:p>
          <a:p>
            <a:r>
              <a:rPr lang="en-US"/>
              <a:t>Permite restar una geometría de otra para fragmentar o dividir polígonos.</a:t>
            </a:r>
          </a:p>
          <a:p>
            <a:r>
              <a:rPr lang="en-US"/>
              <a:t/>
            </a:r>
          </a:p>
          <a:p>
            <a:r>
              <a:rPr lang="en-US"/>
              <a:t>Estas funciones permiten realizar análisis territorial automatizado.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Permite responder preguntas como:</a:t>
            </a:r>
          </a:p>
          <a:p>
            <a:r>
              <a:rPr lang="en-US"/>
              <a:t/>
            </a:r>
          </a:p>
          <a:p>
            <a:r>
              <a:rPr lang="en-US"/>
              <a:t>¿Dónde están concentrados los establecimientos?</a:t>
            </a:r>
          </a:p>
          <a:p>
            <a:r>
              <a:rPr lang="en-US"/>
              <a:t>¿Cómo se fragmenta un territorio según su red vial?</a:t>
            </a:r>
          </a:p>
          <a:p>
            <a:r>
              <a:rPr lang="en-US"/>
              <a:t>¿Qué zonas presentan mayor densidad?</a:t>
            </a:r>
          </a:p>
          <a:p>
            <a:r>
              <a:rPr lang="en-US"/>
              <a:t>¿Cómo optimizar divisiones territoriales?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Facilita la integración con entornos de ciencia de datos, machine learning y procesamiento distribuido.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9.png" Type="http://schemas.openxmlformats.org/officeDocument/2006/relationships/image"/><Relationship Id="rId6" Target="../media/image20.jpe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754349"/>
            <a:ext cx="10420061" cy="5909350"/>
            <a:chOff x="0" y="0"/>
            <a:chExt cx="2744378" cy="1556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556372"/>
            </a:xfrm>
            <a:custGeom>
              <a:avLst/>
              <a:gdLst/>
              <a:ahLst/>
              <a:cxnLst/>
              <a:rect r="r" b="b" t="t" l="l"/>
              <a:pathLst>
                <a:path h="1556372" w="2744378">
                  <a:moveTo>
                    <a:pt x="37892" y="0"/>
                  </a:moveTo>
                  <a:lnTo>
                    <a:pt x="2706486" y="0"/>
                  </a:lnTo>
                  <a:cubicBezTo>
                    <a:pt x="2727413" y="0"/>
                    <a:pt x="2744378" y="16965"/>
                    <a:pt x="2744378" y="37892"/>
                  </a:cubicBezTo>
                  <a:lnTo>
                    <a:pt x="2744378" y="1518480"/>
                  </a:lnTo>
                  <a:cubicBezTo>
                    <a:pt x="2744378" y="1539407"/>
                    <a:pt x="2727413" y="1556372"/>
                    <a:pt x="2706486" y="1556372"/>
                  </a:cubicBezTo>
                  <a:lnTo>
                    <a:pt x="37892" y="1556372"/>
                  </a:lnTo>
                  <a:cubicBezTo>
                    <a:pt x="16965" y="1556372"/>
                    <a:pt x="0" y="1539407"/>
                    <a:pt x="0" y="1518480"/>
                  </a:cubicBezTo>
                  <a:lnTo>
                    <a:pt x="0" y="37892"/>
                  </a:lnTo>
                  <a:cubicBezTo>
                    <a:pt x="0" y="16965"/>
                    <a:pt x="16965" y="0"/>
                    <a:pt x="37892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594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62399" y="1028700"/>
            <a:ext cx="5396478" cy="3693210"/>
            <a:chOff x="0" y="0"/>
            <a:chExt cx="2744378" cy="18781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4378" cy="1878181"/>
            </a:xfrm>
            <a:custGeom>
              <a:avLst/>
              <a:gdLst/>
              <a:ahLst/>
              <a:cxnLst/>
              <a:rect r="r" b="b" t="t" l="l"/>
              <a:pathLst>
                <a:path h="1878181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853793"/>
                  </a:lnTo>
                  <a:cubicBezTo>
                    <a:pt x="2744378" y="1860261"/>
                    <a:pt x="2741809" y="1866464"/>
                    <a:pt x="2737235" y="1871038"/>
                  </a:cubicBezTo>
                  <a:cubicBezTo>
                    <a:pt x="2732661" y="1875612"/>
                    <a:pt x="2726458" y="1878181"/>
                    <a:pt x="2719990" y="1878181"/>
                  </a:cubicBezTo>
                  <a:lnTo>
                    <a:pt x="24389" y="1878181"/>
                  </a:lnTo>
                  <a:cubicBezTo>
                    <a:pt x="10919" y="1878181"/>
                    <a:pt x="0" y="1867262"/>
                    <a:pt x="0" y="1853793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44378" cy="1916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50252" y="6645926"/>
            <a:ext cx="6409048" cy="2744259"/>
            <a:chOff x="0" y="0"/>
            <a:chExt cx="2744378" cy="11751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4378" cy="1175102"/>
            </a:xfrm>
            <a:custGeom>
              <a:avLst/>
              <a:gdLst/>
              <a:ahLst/>
              <a:cxnLst/>
              <a:rect r="r" b="b" t="t" l="l"/>
              <a:pathLst>
                <a:path h="1175102" w="2744378">
                  <a:moveTo>
                    <a:pt x="39863" y="0"/>
                  </a:moveTo>
                  <a:lnTo>
                    <a:pt x="2704515" y="0"/>
                  </a:lnTo>
                  <a:cubicBezTo>
                    <a:pt x="2715088" y="0"/>
                    <a:pt x="2725227" y="4200"/>
                    <a:pt x="2732703" y="11676"/>
                  </a:cubicBezTo>
                  <a:cubicBezTo>
                    <a:pt x="2740178" y="19151"/>
                    <a:pt x="2744378" y="29291"/>
                    <a:pt x="2744378" y="39863"/>
                  </a:cubicBezTo>
                  <a:lnTo>
                    <a:pt x="2744378" y="1135239"/>
                  </a:lnTo>
                  <a:cubicBezTo>
                    <a:pt x="2744378" y="1145811"/>
                    <a:pt x="2740178" y="1155951"/>
                    <a:pt x="2732703" y="1163427"/>
                  </a:cubicBezTo>
                  <a:cubicBezTo>
                    <a:pt x="2725227" y="1170902"/>
                    <a:pt x="2715088" y="1175102"/>
                    <a:pt x="2704515" y="1175102"/>
                  </a:cubicBezTo>
                  <a:lnTo>
                    <a:pt x="39863" y="1175102"/>
                  </a:lnTo>
                  <a:cubicBezTo>
                    <a:pt x="29291" y="1175102"/>
                    <a:pt x="19151" y="1170902"/>
                    <a:pt x="11676" y="1163427"/>
                  </a:cubicBezTo>
                  <a:cubicBezTo>
                    <a:pt x="4200" y="1155951"/>
                    <a:pt x="0" y="1145811"/>
                    <a:pt x="0" y="1135239"/>
                  </a:cubicBezTo>
                  <a:lnTo>
                    <a:pt x="0" y="39863"/>
                  </a:lnTo>
                  <a:cubicBezTo>
                    <a:pt x="0" y="29291"/>
                    <a:pt x="4200" y="19151"/>
                    <a:pt x="11676" y="11676"/>
                  </a:cubicBezTo>
                  <a:cubicBezTo>
                    <a:pt x="19151" y="4200"/>
                    <a:pt x="29291" y="0"/>
                    <a:pt x="398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4378" cy="1213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8752" y="3266039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14593" y="1293701"/>
            <a:ext cx="179985" cy="179985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04854" y="6960650"/>
            <a:ext cx="213757" cy="213757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62920" y="3266039"/>
            <a:ext cx="347534" cy="347534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49804" y="1293701"/>
            <a:ext cx="179985" cy="179985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84198" y="6960650"/>
            <a:ext cx="213757" cy="213757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15229" y="3266039"/>
            <a:ext cx="347534" cy="347534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684051" y="1293701"/>
            <a:ext cx="179985" cy="179985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62399" y="6960650"/>
            <a:ext cx="213757" cy="213757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14342" y="1028700"/>
            <a:ext cx="5396478" cy="3498503"/>
            <a:chOff x="0" y="0"/>
            <a:chExt cx="2744378" cy="17791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6536" y="1293701"/>
            <a:ext cx="179985" cy="179985"/>
            <a:chOff x="0" y="0"/>
            <a:chExt cx="6350000" cy="635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301747" y="1293701"/>
            <a:ext cx="179985" cy="179985"/>
            <a:chOff x="0" y="0"/>
            <a:chExt cx="6350000" cy="635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535994" y="1293701"/>
            <a:ext cx="179985" cy="179985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066536" y="1786212"/>
            <a:ext cx="4710409" cy="2351465"/>
            <a:chOff x="0" y="0"/>
            <a:chExt cx="729766" cy="3643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94" r="0" b="-24994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452068" y="4876688"/>
            <a:ext cx="1769238" cy="1769238"/>
          </a:xfrm>
          <a:custGeom>
            <a:avLst/>
            <a:gdLst/>
            <a:ahLst/>
            <a:cxnLst/>
            <a:rect r="r" b="b" t="t" l="l"/>
            <a:pathLst>
              <a:path h="1769238" w="1769238">
                <a:moveTo>
                  <a:pt x="0" y="0"/>
                </a:moveTo>
                <a:lnTo>
                  <a:pt x="1769238" y="0"/>
                </a:lnTo>
                <a:lnTo>
                  <a:pt x="1769238" y="1769238"/>
                </a:lnTo>
                <a:lnTo>
                  <a:pt x="0" y="176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2304586" y="1900930"/>
            <a:ext cx="4390116" cy="2351465"/>
            <a:chOff x="0" y="0"/>
            <a:chExt cx="680144" cy="3643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0144" cy="364303"/>
            </a:xfrm>
            <a:custGeom>
              <a:avLst/>
              <a:gdLst/>
              <a:ahLst/>
              <a:cxnLst/>
              <a:rect r="r" b="b" t="t" l="l"/>
              <a:pathLst>
                <a:path h="364303" w="680144">
                  <a:moveTo>
                    <a:pt x="19398" y="0"/>
                  </a:moveTo>
                  <a:lnTo>
                    <a:pt x="660746" y="0"/>
                  </a:lnTo>
                  <a:cubicBezTo>
                    <a:pt x="665890" y="0"/>
                    <a:pt x="670824" y="2044"/>
                    <a:pt x="674462" y="5682"/>
                  </a:cubicBezTo>
                  <a:cubicBezTo>
                    <a:pt x="678100" y="9320"/>
                    <a:pt x="680144" y="14254"/>
                    <a:pt x="680144" y="19398"/>
                  </a:cubicBezTo>
                  <a:lnTo>
                    <a:pt x="680144" y="344905"/>
                  </a:lnTo>
                  <a:cubicBezTo>
                    <a:pt x="680144" y="355619"/>
                    <a:pt x="671459" y="364303"/>
                    <a:pt x="660746" y="364303"/>
                  </a:cubicBezTo>
                  <a:lnTo>
                    <a:pt x="19398" y="364303"/>
                  </a:lnTo>
                  <a:cubicBezTo>
                    <a:pt x="14254" y="364303"/>
                    <a:pt x="9320" y="362260"/>
                    <a:pt x="5682" y="358622"/>
                  </a:cubicBezTo>
                  <a:cubicBezTo>
                    <a:pt x="2044" y="354984"/>
                    <a:pt x="0" y="350050"/>
                    <a:pt x="0" y="344905"/>
                  </a:cubicBezTo>
                  <a:lnTo>
                    <a:pt x="0" y="19398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916" r="0" b="-12916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3547932" y="5295900"/>
            <a:ext cx="6807818" cy="129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3"/>
              </a:lnSpc>
            </a:pPr>
            <a:r>
              <a:rPr lang="en-US" sz="9599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GeoPandas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244702" y="7872821"/>
            <a:ext cx="5243334" cy="134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5017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Dante Márquez López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04854" y="7415292"/>
            <a:ext cx="3255784" cy="39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2828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Presentado por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915680"/>
            <a:ext cx="8864188" cy="5066448"/>
            <a:chOff x="0" y="0"/>
            <a:chExt cx="3845713" cy="2198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713" cy="2198070"/>
            </a:xfrm>
            <a:custGeom>
              <a:avLst/>
              <a:gdLst/>
              <a:ahLst/>
              <a:cxnLst/>
              <a:rect r="r" b="b" t="t" l="l"/>
              <a:pathLst>
                <a:path h="2198070" w="3845713">
                  <a:moveTo>
                    <a:pt x="27075" y="0"/>
                  </a:moveTo>
                  <a:lnTo>
                    <a:pt x="3818638" y="0"/>
                  </a:lnTo>
                  <a:cubicBezTo>
                    <a:pt x="3833591" y="0"/>
                    <a:pt x="3845713" y="12122"/>
                    <a:pt x="3845713" y="27075"/>
                  </a:cubicBezTo>
                  <a:lnTo>
                    <a:pt x="3845713" y="2170995"/>
                  </a:lnTo>
                  <a:cubicBezTo>
                    <a:pt x="3845713" y="2185948"/>
                    <a:pt x="3833591" y="2198070"/>
                    <a:pt x="3818638" y="2198070"/>
                  </a:cubicBezTo>
                  <a:lnTo>
                    <a:pt x="27075" y="2198070"/>
                  </a:lnTo>
                  <a:cubicBezTo>
                    <a:pt x="12122" y="2198070"/>
                    <a:pt x="0" y="2185948"/>
                    <a:pt x="0" y="2170995"/>
                  </a:cubicBezTo>
                  <a:lnTo>
                    <a:pt x="0" y="27075"/>
                  </a:lnTo>
                  <a:cubicBezTo>
                    <a:pt x="0" y="12122"/>
                    <a:pt x="12122" y="0"/>
                    <a:pt x="27075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45713" cy="22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7024" y="4226309"/>
            <a:ext cx="210976" cy="21097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22734" y="4226309"/>
            <a:ext cx="210976" cy="210976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97315" y="4226309"/>
            <a:ext cx="210976" cy="210976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35788" y="1317888"/>
            <a:ext cx="5396478" cy="3498503"/>
            <a:chOff x="0" y="0"/>
            <a:chExt cx="2744378" cy="1779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87982" y="1582889"/>
            <a:ext cx="179985" cy="179985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23193" y="1582889"/>
            <a:ext cx="179985" cy="179985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057441" y="1582889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587982" y="2075400"/>
            <a:ext cx="4710409" cy="2351465"/>
            <a:chOff x="0" y="0"/>
            <a:chExt cx="729766" cy="36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727" r="0" b="-1672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62822" y="3636228"/>
            <a:ext cx="5396478" cy="3498503"/>
            <a:chOff x="0" y="0"/>
            <a:chExt cx="2744378" cy="1779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4389" y="0"/>
                  </a:moveTo>
                  <a:lnTo>
                    <a:pt x="2719990" y="0"/>
                  </a:lnTo>
                  <a:cubicBezTo>
                    <a:pt x="2726458" y="0"/>
                    <a:pt x="2732661" y="2570"/>
                    <a:pt x="2737235" y="7143"/>
                  </a:cubicBezTo>
                  <a:cubicBezTo>
                    <a:pt x="2741809" y="11717"/>
                    <a:pt x="2744378" y="17920"/>
                    <a:pt x="2744378" y="24389"/>
                  </a:cubicBezTo>
                  <a:lnTo>
                    <a:pt x="2744378" y="1754774"/>
                  </a:lnTo>
                  <a:cubicBezTo>
                    <a:pt x="2744378" y="1768244"/>
                    <a:pt x="2733459" y="1779163"/>
                    <a:pt x="2719990" y="1779163"/>
                  </a:cubicBezTo>
                  <a:lnTo>
                    <a:pt x="24389" y="1779163"/>
                  </a:lnTo>
                  <a:cubicBezTo>
                    <a:pt x="17920" y="1779163"/>
                    <a:pt x="11717" y="1776594"/>
                    <a:pt x="7143" y="1772020"/>
                  </a:cubicBezTo>
                  <a:cubicBezTo>
                    <a:pt x="2570" y="1767446"/>
                    <a:pt x="0" y="1761243"/>
                    <a:pt x="0" y="1754774"/>
                  </a:cubicBezTo>
                  <a:lnTo>
                    <a:pt x="0" y="24389"/>
                  </a:lnTo>
                  <a:cubicBezTo>
                    <a:pt x="0" y="17920"/>
                    <a:pt x="2570" y="11717"/>
                    <a:pt x="7143" y="7143"/>
                  </a:cubicBezTo>
                  <a:cubicBezTo>
                    <a:pt x="11717" y="2570"/>
                    <a:pt x="17920" y="0"/>
                    <a:pt x="24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15016" y="3901228"/>
            <a:ext cx="179985" cy="179985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50227" y="3901228"/>
            <a:ext cx="179985" cy="179985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84474" y="3901228"/>
            <a:ext cx="179985" cy="179985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215016" y="4393739"/>
            <a:ext cx="4710409" cy="2351465"/>
            <a:chOff x="0" y="0"/>
            <a:chExt cx="729766" cy="3643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079" y="0"/>
                  </a:moveTo>
                  <a:lnTo>
                    <a:pt x="711686" y="0"/>
                  </a:lnTo>
                  <a:cubicBezTo>
                    <a:pt x="716481" y="0"/>
                    <a:pt x="721080" y="1905"/>
                    <a:pt x="724470" y="5295"/>
                  </a:cubicBezTo>
                  <a:cubicBezTo>
                    <a:pt x="727861" y="8686"/>
                    <a:pt x="729766" y="13284"/>
                    <a:pt x="729766" y="18079"/>
                  </a:cubicBezTo>
                  <a:lnTo>
                    <a:pt x="729766" y="346224"/>
                  </a:lnTo>
                  <a:cubicBezTo>
                    <a:pt x="729766" y="351019"/>
                    <a:pt x="727861" y="355618"/>
                    <a:pt x="724470" y="359008"/>
                  </a:cubicBezTo>
                  <a:cubicBezTo>
                    <a:pt x="721080" y="362399"/>
                    <a:pt x="716481" y="364303"/>
                    <a:pt x="711686" y="364303"/>
                  </a:cubicBezTo>
                  <a:lnTo>
                    <a:pt x="18079" y="364303"/>
                  </a:lnTo>
                  <a:cubicBezTo>
                    <a:pt x="13284" y="364303"/>
                    <a:pt x="8686" y="362399"/>
                    <a:pt x="5295" y="359008"/>
                  </a:cubicBezTo>
                  <a:cubicBezTo>
                    <a:pt x="1905" y="355618"/>
                    <a:pt x="0" y="351019"/>
                    <a:pt x="0" y="346224"/>
                  </a:cubicBezTo>
                  <a:lnTo>
                    <a:pt x="0" y="18079"/>
                  </a:lnTo>
                  <a:cubicBezTo>
                    <a:pt x="0" y="13284"/>
                    <a:pt x="1905" y="8686"/>
                    <a:pt x="5295" y="5295"/>
                  </a:cubicBezTo>
                  <a:cubicBezTo>
                    <a:pt x="8686" y="1905"/>
                    <a:pt x="13284" y="0"/>
                    <a:pt x="1807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730" r="0" b="-1673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28700" y="1419173"/>
            <a:ext cx="6596613" cy="20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¿Qué es GeoPandas?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47024" y="4674981"/>
            <a:ext cx="7887847" cy="458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8"/>
              </a:lnSpc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GeoPandas es una librería de Python para el análisis y manipulación de datos geoespaciales.</a:t>
            </a:r>
          </a:p>
          <a:p>
            <a:pPr algn="just">
              <a:lnSpc>
                <a:spcPts val="2828"/>
              </a:lnSpc>
            </a:pPr>
          </a:p>
          <a:p>
            <a:pPr algn="just">
              <a:lnSpc>
                <a:spcPts val="2828"/>
              </a:lnSpc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Extiende la estructura de pandas para permitir trabajar con:</a:t>
            </a:r>
          </a:p>
          <a:p>
            <a:pPr algn="just">
              <a:lnSpc>
                <a:spcPts val="2828"/>
              </a:lnSpc>
            </a:pPr>
          </a:p>
          <a:p>
            <a:pPr algn="just" marL="492565" indent="-246283" lvl="1">
              <a:lnSpc>
                <a:spcPts val="2828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Puntos</a:t>
            </a:r>
          </a:p>
          <a:p>
            <a:pPr algn="just" marL="492565" indent="-246283" lvl="1">
              <a:lnSpc>
                <a:spcPts val="2828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Líneas</a:t>
            </a:r>
          </a:p>
          <a:p>
            <a:pPr algn="just" marL="492565" indent="-246283" lvl="1">
              <a:lnSpc>
                <a:spcPts val="2828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Polígonos</a:t>
            </a:r>
          </a:p>
          <a:p>
            <a:pPr algn="just" marL="492565" indent="-246283" lvl="1">
              <a:lnSpc>
                <a:spcPts val="2828"/>
              </a:lnSpc>
              <a:buFont typeface="Arial"/>
              <a:buChar char="•"/>
            </a:pPr>
            <a:r>
              <a:rPr lang="en-US" sz="2281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Mapas completos</a:t>
            </a:r>
          </a:p>
          <a:p>
            <a:pPr algn="just">
              <a:lnSpc>
                <a:spcPts val="2828"/>
              </a:lnSpc>
            </a:pPr>
          </a:p>
          <a:p>
            <a:pPr algn="just">
              <a:lnSpc>
                <a:spcPts val="282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63278" y="2269450"/>
            <a:ext cx="8864188" cy="3907649"/>
            <a:chOff x="0" y="0"/>
            <a:chExt cx="3845713" cy="1695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713" cy="1695327"/>
            </a:xfrm>
            <a:custGeom>
              <a:avLst/>
              <a:gdLst/>
              <a:ahLst/>
              <a:cxnLst/>
              <a:rect r="r" b="b" t="t" l="l"/>
              <a:pathLst>
                <a:path h="1695327" w="3845713">
                  <a:moveTo>
                    <a:pt x="27075" y="0"/>
                  </a:moveTo>
                  <a:lnTo>
                    <a:pt x="3818638" y="0"/>
                  </a:lnTo>
                  <a:cubicBezTo>
                    <a:pt x="3833591" y="0"/>
                    <a:pt x="3845713" y="12122"/>
                    <a:pt x="3845713" y="27075"/>
                  </a:cubicBezTo>
                  <a:lnTo>
                    <a:pt x="3845713" y="1668252"/>
                  </a:lnTo>
                  <a:cubicBezTo>
                    <a:pt x="3845713" y="1683205"/>
                    <a:pt x="3833591" y="1695327"/>
                    <a:pt x="3818638" y="1695327"/>
                  </a:cubicBezTo>
                  <a:lnTo>
                    <a:pt x="27075" y="1695327"/>
                  </a:lnTo>
                  <a:cubicBezTo>
                    <a:pt x="12122" y="1695327"/>
                    <a:pt x="0" y="1683205"/>
                    <a:pt x="0" y="1668252"/>
                  </a:cubicBezTo>
                  <a:lnTo>
                    <a:pt x="0" y="27075"/>
                  </a:lnTo>
                  <a:cubicBezTo>
                    <a:pt x="0" y="12122"/>
                    <a:pt x="12122" y="0"/>
                    <a:pt x="27075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45713" cy="1733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95112" y="5350651"/>
            <a:ext cx="8864188" cy="3907649"/>
            <a:chOff x="0" y="0"/>
            <a:chExt cx="3845713" cy="16953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5713" cy="1695327"/>
            </a:xfrm>
            <a:custGeom>
              <a:avLst/>
              <a:gdLst/>
              <a:ahLst/>
              <a:cxnLst/>
              <a:rect r="r" b="b" t="t" l="l"/>
              <a:pathLst>
                <a:path h="1695327" w="3845713">
                  <a:moveTo>
                    <a:pt x="27075" y="0"/>
                  </a:moveTo>
                  <a:lnTo>
                    <a:pt x="3818638" y="0"/>
                  </a:lnTo>
                  <a:cubicBezTo>
                    <a:pt x="3833591" y="0"/>
                    <a:pt x="3845713" y="12122"/>
                    <a:pt x="3845713" y="27075"/>
                  </a:cubicBezTo>
                  <a:lnTo>
                    <a:pt x="3845713" y="1668252"/>
                  </a:lnTo>
                  <a:cubicBezTo>
                    <a:pt x="3845713" y="1683205"/>
                    <a:pt x="3833591" y="1695327"/>
                    <a:pt x="3818638" y="1695327"/>
                  </a:cubicBezTo>
                  <a:lnTo>
                    <a:pt x="27075" y="1695327"/>
                  </a:lnTo>
                  <a:cubicBezTo>
                    <a:pt x="12122" y="1695327"/>
                    <a:pt x="0" y="1683205"/>
                    <a:pt x="0" y="1668252"/>
                  </a:cubicBezTo>
                  <a:lnTo>
                    <a:pt x="0" y="27075"/>
                  </a:lnTo>
                  <a:cubicBezTo>
                    <a:pt x="0" y="12122"/>
                    <a:pt x="12122" y="0"/>
                    <a:pt x="270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5713" cy="1733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0793" y="7034350"/>
            <a:ext cx="7124154" cy="202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DataFrame</a:t>
            </a: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 </a:t>
            </a:r>
            <a:r>
              <a:rPr lang="en-US" sz="7546" b="true">
                <a:solidFill>
                  <a:srgbClr val="FFCF6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vs </a:t>
            </a: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GeoDataFrame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1603" y="3523604"/>
            <a:ext cx="7668203" cy="207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217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Un DataFrame es una estructura tabular compuesta por filas y columnas que permite realizar análisis estadístico y manipulación de datos.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913436" y="6604804"/>
            <a:ext cx="7668203" cy="173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217">
                <a:solidFill>
                  <a:srgbClr val="071330"/>
                </a:solidFill>
                <a:latin typeface="IBM Plex Mono"/>
                <a:ea typeface="IBM Plex Mono"/>
                <a:cs typeface="IBM Plex Mono"/>
                <a:sym typeface="IBM Plex Mono"/>
              </a:rPr>
              <a:t>Un GeoDataFrame mantiene esa estructura tabular, pero incorpora una columna especial llamada "geometry" que contiene objetos espaciales reales.</a:t>
            </a:r>
          </a:p>
          <a:p>
            <a:pPr algn="l">
              <a:lnSpc>
                <a:spcPts val="275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3281603" y="2580080"/>
            <a:ext cx="210976" cy="210976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13436" y="5661280"/>
            <a:ext cx="210976" cy="210976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557313" y="2580080"/>
            <a:ext cx="210976" cy="210976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89146" y="5661280"/>
            <a:ext cx="210976" cy="210976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31894" y="2580080"/>
            <a:ext cx="210976" cy="210976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63727" y="5661280"/>
            <a:ext cx="210976" cy="210976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089041" y="1041804"/>
            <a:ext cx="5170259" cy="3351846"/>
            <a:chOff x="0" y="0"/>
            <a:chExt cx="2744378" cy="17791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456" y="0"/>
                  </a:moveTo>
                  <a:lnTo>
                    <a:pt x="2718923" y="0"/>
                  </a:lnTo>
                  <a:cubicBezTo>
                    <a:pt x="2732981" y="0"/>
                    <a:pt x="2744378" y="11397"/>
                    <a:pt x="2744378" y="25456"/>
                  </a:cubicBezTo>
                  <a:lnTo>
                    <a:pt x="2744378" y="1753707"/>
                  </a:lnTo>
                  <a:cubicBezTo>
                    <a:pt x="2744378" y="1767766"/>
                    <a:pt x="2732981" y="1779163"/>
                    <a:pt x="2718923" y="1779163"/>
                  </a:cubicBezTo>
                  <a:lnTo>
                    <a:pt x="25456" y="1779163"/>
                  </a:lnTo>
                  <a:cubicBezTo>
                    <a:pt x="11397" y="1779163"/>
                    <a:pt x="0" y="1767766"/>
                    <a:pt x="0" y="1753707"/>
                  </a:cubicBezTo>
                  <a:lnTo>
                    <a:pt x="0" y="25456"/>
                  </a:lnTo>
                  <a:cubicBezTo>
                    <a:pt x="0" y="11397"/>
                    <a:pt x="11397" y="0"/>
                    <a:pt x="2545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26471" y="1295696"/>
            <a:ext cx="172440" cy="172440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651822" y="1295696"/>
            <a:ext cx="172440" cy="172440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76250" y="1295696"/>
            <a:ext cx="172440" cy="172440"/>
            <a:chOff x="0" y="0"/>
            <a:chExt cx="6350000" cy="635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26471" y="1767561"/>
            <a:ext cx="4512950" cy="2252892"/>
            <a:chOff x="0" y="0"/>
            <a:chExt cx="729766" cy="3643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870" y="0"/>
                  </a:moveTo>
                  <a:lnTo>
                    <a:pt x="710895" y="0"/>
                  </a:lnTo>
                  <a:cubicBezTo>
                    <a:pt x="715900" y="0"/>
                    <a:pt x="720700" y="1988"/>
                    <a:pt x="724239" y="5527"/>
                  </a:cubicBezTo>
                  <a:cubicBezTo>
                    <a:pt x="727778" y="9066"/>
                    <a:pt x="729766" y="13866"/>
                    <a:pt x="729766" y="18870"/>
                  </a:cubicBezTo>
                  <a:lnTo>
                    <a:pt x="729766" y="345433"/>
                  </a:lnTo>
                  <a:cubicBezTo>
                    <a:pt x="729766" y="350438"/>
                    <a:pt x="727778" y="355238"/>
                    <a:pt x="724239" y="358776"/>
                  </a:cubicBezTo>
                  <a:cubicBezTo>
                    <a:pt x="720700" y="362315"/>
                    <a:pt x="715900" y="364303"/>
                    <a:pt x="710895" y="364303"/>
                  </a:cubicBezTo>
                  <a:lnTo>
                    <a:pt x="18870" y="364303"/>
                  </a:lnTo>
                  <a:cubicBezTo>
                    <a:pt x="13866" y="364303"/>
                    <a:pt x="9066" y="362315"/>
                    <a:pt x="5527" y="358776"/>
                  </a:cubicBezTo>
                  <a:cubicBezTo>
                    <a:pt x="1988" y="355238"/>
                    <a:pt x="0" y="350438"/>
                    <a:pt x="0" y="345433"/>
                  </a:cubicBezTo>
                  <a:lnTo>
                    <a:pt x="0" y="18870"/>
                  </a:lnTo>
                  <a:cubicBezTo>
                    <a:pt x="0" y="13866"/>
                    <a:pt x="1988" y="9066"/>
                    <a:pt x="5527" y="5527"/>
                  </a:cubicBezTo>
                  <a:cubicBezTo>
                    <a:pt x="9066" y="1988"/>
                    <a:pt x="13866" y="0"/>
                    <a:pt x="188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856" r="0" b="-1685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2544" y="1517908"/>
            <a:ext cx="4624069" cy="2997754"/>
            <a:chOff x="0" y="0"/>
            <a:chExt cx="2744378" cy="1779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8463" y="0"/>
                  </a:moveTo>
                  <a:lnTo>
                    <a:pt x="2715916" y="0"/>
                  </a:lnTo>
                  <a:cubicBezTo>
                    <a:pt x="2723464" y="0"/>
                    <a:pt x="2730704" y="2999"/>
                    <a:pt x="2736042" y="8336"/>
                  </a:cubicBezTo>
                  <a:cubicBezTo>
                    <a:pt x="2741380" y="13674"/>
                    <a:pt x="2744378" y="20914"/>
                    <a:pt x="2744378" y="28463"/>
                  </a:cubicBezTo>
                  <a:lnTo>
                    <a:pt x="2744378" y="1750701"/>
                  </a:lnTo>
                  <a:cubicBezTo>
                    <a:pt x="2744378" y="1758249"/>
                    <a:pt x="2741380" y="1765489"/>
                    <a:pt x="2736042" y="1770827"/>
                  </a:cubicBezTo>
                  <a:cubicBezTo>
                    <a:pt x="2730704" y="1776164"/>
                    <a:pt x="2723464" y="1779163"/>
                    <a:pt x="2715916" y="1779163"/>
                  </a:cubicBezTo>
                  <a:lnTo>
                    <a:pt x="28463" y="1779163"/>
                  </a:lnTo>
                  <a:cubicBezTo>
                    <a:pt x="20914" y="1779163"/>
                    <a:pt x="13674" y="1776164"/>
                    <a:pt x="8336" y="1770827"/>
                  </a:cubicBezTo>
                  <a:cubicBezTo>
                    <a:pt x="2999" y="1765489"/>
                    <a:pt x="0" y="1758249"/>
                    <a:pt x="0" y="1750701"/>
                  </a:cubicBezTo>
                  <a:lnTo>
                    <a:pt x="0" y="28463"/>
                  </a:lnTo>
                  <a:cubicBezTo>
                    <a:pt x="0" y="20914"/>
                    <a:pt x="2999" y="13674"/>
                    <a:pt x="8336" y="8336"/>
                  </a:cubicBezTo>
                  <a:cubicBezTo>
                    <a:pt x="13674" y="2999"/>
                    <a:pt x="20914" y="0"/>
                    <a:pt x="284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1647" y="1744979"/>
            <a:ext cx="154224" cy="154224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81121" y="1744979"/>
            <a:ext cx="154224" cy="154224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56591" y="1744979"/>
            <a:ext cx="154224" cy="154224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354328" y="2166995"/>
            <a:ext cx="4036198" cy="2014895"/>
            <a:chOff x="0" y="0"/>
            <a:chExt cx="729766" cy="3643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21099" y="0"/>
                  </a:moveTo>
                  <a:lnTo>
                    <a:pt x="708666" y="0"/>
                  </a:lnTo>
                  <a:cubicBezTo>
                    <a:pt x="714262" y="0"/>
                    <a:pt x="719629" y="2223"/>
                    <a:pt x="723586" y="6180"/>
                  </a:cubicBezTo>
                  <a:cubicBezTo>
                    <a:pt x="727543" y="10137"/>
                    <a:pt x="729766" y="15503"/>
                    <a:pt x="729766" y="21099"/>
                  </a:cubicBezTo>
                  <a:lnTo>
                    <a:pt x="729766" y="343204"/>
                  </a:lnTo>
                  <a:cubicBezTo>
                    <a:pt x="729766" y="354857"/>
                    <a:pt x="720319" y="364303"/>
                    <a:pt x="708666" y="364303"/>
                  </a:cubicBezTo>
                  <a:lnTo>
                    <a:pt x="21099" y="364303"/>
                  </a:lnTo>
                  <a:cubicBezTo>
                    <a:pt x="15503" y="364303"/>
                    <a:pt x="10137" y="362081"/>
                    <a:pt x="6180" y="358124"/>
                  </a:cubicBezTo>
                  <a:cubicBezTo>
                    <a:pt x="2223" y="354167"/>
                    <a:pt x="0" y="348800"/>
                    <a:pt x="0" y="343204"/>
                  </a:cubicBezTo>
                  <a:lnTo>
                    <a:pt x="0" y="21099"/>
                  </a:lnTo>
                  <a:cubicBezTo>
                    <a:pt x="0" y="15503"/>
                    <a:pt x="2223" y="10137"/>
                    <a:pt x="6180" y="6180"/>
                  </a:cubicBezTo>
                  <a:cubicBezTo>
                    <a:pt x="10137" y="2223"/>
                    <a:pt x="15503" y="0"/>
                    <a:pt x="2109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2232" r="0" b="-3223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723683" y="-201041"/>
            <a:ext cx="19208624" cy="10689082"/>
            <a:chOff x="0" y="0"/>
            <a:chExt cx="25611499" cy="142521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9948" y="3945422"/>
            <a:ext cx="8020681" cy="4276483"/>
            <a:chOff x="0" y="0"/>
            <a:chExt cx="3845713" cy="20504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45713" cy="2050466"/>
            </a:xfrm>
            <a:custGeom>
              <a:avLst/>
              <a:gdLst/>
              <a:ahLst/>
              <a:cxnLst/>
              <a:rect r="r" b="b" t="t" l="l"/>
              <a:pathLst>
                <a:path h="2050466" w="3845713">
                  <a:moveTo>
                    <a:pt x="29923" y="0"/>
                  </a:moveTo>
                  <a:lnTo>
                    <a:pt x="3815791" y="0"/>
                  </a:lnTo>
                  <a:cubicBezTo>
                    <a:pt x="3832316" y="0"/>
                    <a:pt x="3845713" y="13397"/>
                    <a:pt x="3845713" y="29923"/>
                  </a:cubicBezTo>
                  <a:lnTo>
                    <a:pt x="3845713" y="2020543"/>
                  </a:lnTo>
                  <a:cubicBezTo>
                    <a:pt x="3845713" y="2028479"/>
                    <a:pt x="3842561" y="2036090"/>
                    <a:pt x="3836949" y="2041701"/>
                  </a:cubicBezTo>
                  <a:cubicBezTo>
                    <a:pt x="3831337" y="2047313"/>
                    <a:pt x="3823727" y="2050466"/>
                    <a:pt x="3815791" y="2050466"/>
                  </a:cubicBezTo>
                  <a:lnTo>
                    <a:pt x="29923" y="2050466"/>
                  </a:lnTo>
                  <a:cubicBezTo>
                    <a:pt x="21987" y="2050466"/>
                    <a:pt x="14376" y="2047313"/>
                    <a:pt x="8764" y="2041701"/>
                  </a:cubicBezTo>
                  <a:cubicBezTo>
                    <a:pt x="3153" y="2036090"/>
                    <a:pt x="0" y="2028479"/>
                    <a:pt x="0" y="2020543"/>
                  </a:cubicBezTo>
                  <a:lnTo>
                    <a:pt x="0" y="29923"/>
                  </a:lnTo>
                  <a:cubicBezTo>
                    <a:pt x="0" y="21987"/>
                    <a:pt x="3153" y="14376"/>
                    <a:pt x="8764" y="8764"/>
                  </a:cubicBezTo>
                  <a:cubicBezTo>
                    <a:pt x="14376" y="3153"/>
                    <a:pt x="21987" y="0"/>
                    <a:pt x="2992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45713" cy="208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39758" y="5010962"/>
            <a:ext cx="8020681" cy="3851316"/>
            <a:chOff x="0" y="0"/>
            <a:chExt cx="3845713" cy="18466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45713" cy="1846609"/>
            </a:xfrm>
            <a:custGeom>
              <a:avLst/>
              <a:gdLst/>
              <a:ahLst/>
              <a:cxnLst/>
              <a:rect r="r" b="b" t="t" l="l"/>
              <a:pathLst>
                <a:path h="1846609" w="3845713">
                  <a:moveTo>
                    <a:pt x="29923" y="0"/>
                  </a:moveTo>
                  <a:lnTo>
                    <a:pt x="3815791" y="0"/>
                  </a:lnTo>
                  <a:cubicBezTo>
                    <a:pt x="3832316" y="0"/>
                    <a:pt x="3845713" y="13397"/>
                    <a:pt x="3845713" y="29923"/>
                  </a:cubicBezTo>
                  <a:lnTo>
                    <a:pt x="3845713" y="1816686"/>
                  </a:lnTo>
                  <a:cubicBezTo>
                    <a:pt x="3845713" y="1824622"/>
                    <a:pt x="3842561" y="1832233"/>
                    <a:pt x="3836949" y="1837844"/>
                  </a:cubicBezTo>
                  <a:cubicBezTo>
                    <a:pt x="3831337" y="1843456"/>
                    <a:pt x="3823727" y="1846609"/>
                    <a:pt x="3815791" y="1846609"/>
                  </a:cubicBezTo>
                  <a:lnTo>
                    <a:pt x="29923" y="1846609"/>
                  </a:lnTo>
                  <a:cubicBezTo>
                    <a:pt x="13397" y="1846609"/>
                    <a:pt x="0" y="1833212"/>
                    <a:pt x="0" y="1816686"/>
                  </a:cubicBezTo>
                  <a:lnTo>
                    <a:pt x="0" y="29923"/>
                  </a:lnTo>
                  <a:cubicBezTo>
                    <a:pt x="0" y="21987"/>
                    <a:pt x="3153" y="14376"/>
                    <a:pt x="8764" y="8764"/>
                  </a:cubicBezTo>
                  <a:cubicBezTo>
                    <a:pt x="14376" y="3153"/>
                    <a:pt x="21987" y="0"/>
                    <a:pt x="2992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45713" cy="1884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8949" y="4226493"/>
            <a:ext cx="190900" cy="190900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308759" y="5292033"/>
            <a:ext cx="190900" cy="190900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78423" y="4226493"/>
            <a:ext cx="190900" cy="190900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558233" y="5292033"/>
            <a:ext cx="190900" cy="190900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26875" y="4226493"/>
            <a:ext cx="190900" cy="19090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06685" y="5292033"/>
            <a:ext cx="190900" cy="190900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80722" y="593576"/>
            <a:ext cx="5170259" cy="3351846"/>
            <a:chOff x="0" y="0"/>
            <a:chExt cx="2744378" cy="17791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456" y="0"/>
                  </a:moveTo>
                  <a:lnTo>
                    <a:pt x="2718923" y="0"/>
                  </a:lnTo>
                  <a:cubicBezTo>
                    <a:pt x="2732981" y="0"/>
                    <a:pt x="2744378" y="11397"/>
                    <a:pt x="2744378" y="25456"/>
                  </a:cubicBezTo>
                  <a:lnTo>
                    <a:pt x="2744378" y="1753707"/>
                  </a:lnTo>
                  <a:cubicBezTo>
                    <a:pt x="2744378" y="1767766"/>
                    <a:pt x="2732981" y="1779163"/>
                    <a:pt x="2718923" y="1779163"/>
                  </a:cubicBezTo>
                  <a:lnTo>
                    <a:pt x="25456" y="1779163"/>
                  </a:lnTo>
                  <a:cubicBezTo>
                    <a:pt x="11397" y="1779163"/>
                    <a:pt x="0" y="1767766"/>
                    <a:pt x="0" y="1753707"/>
                  </a:cubicBezTo>
                  <a:lnTo>
                    <a:pt x="0" y="25456"/>
                  </a:lnTo>
                  <a:cubicBezTo>
                    <a:pt x="0" y="11397"/>
                    <a:pt x="11397" y="0"/>
                    <a:pt x="2545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18152" y="847468"/>
            <a:ext cx="172440" cy="172440"/>
            <a:chOff x="0" y="0"/>
            <a:chExt cx="6350000" cy="635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243503" y="847468"/>
            <a:ext cx="172440" cy="172440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467931" y="847468"/>
            <a:ext cx="172440" cy="172440"/>
            <a:chOff x="0" y="0"/>
            <a:chExt cx="6350000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018152" y="1319333"/>
            <a:ext cx="4512950" cy="2252892"/>
            <a:chOff x="0" y="0"/>
            <a:chExt cx="729766" cy="3643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870" y="0"/>
                  </a:moveTo>
                  <a:lnTo>
                    <a:pt x="710895" y="0"/>
                  </a:lnTo>
                  <a:cubicBezTo>
                    <a:pt x="715900" y="0"/>
                    <a:pt x="720700" y="1988"/>
                    <a:pt x="724239" y="5527"/>
                  </a:cubicBezTo>
                  <a:cubicBezTo>
                    <a:pt x="727778" y="9066"/>
                    <a:pt x="729766" y="13866"/>
                    <a:pt x="729766" y="18870"/>
                  </a:cubicBezTo>
                  <a:lnTo>
                    <a:pt x="729766" y="345433"/>
                  </a:lnTo>
                  <a:cubicBezTo>
                    <a:pt x="729766" y="350438"/>
                    <a:pt x="727778" y="355238"/>
                    <a:pt x="724239" y="358776"/>
                  </a:cubicBezTo>
                  <a:cubicBezTo>
                    <a:pt x="720700" y="362315"/>
                    <a:pt x="715900" y="364303"/>
                    <a:pt x="710895" y="364303"/>
                  </a:cubicBezTo>
                  <a:lnTo>
                    <a:pt x="18870" y="364303"/>
                  </a:lnTo>
                  <a:cubicBezTo>
                    <a:pt x="13866" y="364303"/>
                    <a:pt x="9066" y="362315"/>
                    <a:pt x="5527" y="358776"/>
                  </a:cubicBezTo>
                  <a:cubicBezTo>
                    <a:pt x="1988" y="355238"/>
                    <a:pt x="0" y="350438"/>
                    <a:pt x="0" y="345433"/>
                  </a:cubicBezTo>
                  <a:lnTo>
                    <a:pt x="0" y="18870"/>
                  </a:lnTo>
                  <a:cubicBezTo>
                    <a:pt x="0" y="13866"/>
                    <a:pt x="1988" y="9066"/>
                    <a:pt x="5527" y="5527"/>
                  </a:cubicBezTo>
                  <a:cubicBezTo>
                    <a:pt x="9066" y="1988"/>
                    <a:pt x="13866" y="0"/>
                    <a:pt x="1887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55" r="0" b="-655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807501" y="717401"/>
            <a:ext cx="8678920" cy="20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7813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Arquitectura de GeoPandas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8949" y="5088850"/>
            <a:ext cx="6938505" cy="313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GeoPandas funciona como un orquestador de librerías especializadas en análisis geográfico.</a:t>
            </a:r>
          </a:p>
          <a:p>
            <a:pPr algn="just">
              <a:lnSpc>
                <a:spcPts val="2488"/>
              </a:lnSpc>
            </a:pPr>
          </a:p>
          <a:p>
            <a:pPr algn="just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Puede leer formatos espaciales como Shapefile, GeoJSON y GeoPackage, interpretando automáticamente la información geométrica.</a:t>
            </a:r>
          </a:p>
          <a:p>
            <a:pPr algn="l">
              <a:lnSpc>
                <a:spcPts val="2488"/>
              </a:lnSpc>
            </a:pPr>
          </a:p>
          <a:p>
            <a:pPr algn="l">
              <a:lnSpc>
                <a:spcPts val="2488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404209" y="5978232"/>
            <a:ext cx="6938505" cy="25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INTERNAMENTE</a:t>
            </a:r>
          </a:p>
          <a:p>
            <a:pPr algn="just">
              <a:lnSpc>
                <a:spcPts val="2488"/>
              </a:lnSpc>
            </a:pP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La representación geométrica es gestionada por Shapely.</a:t>
            </a: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La transformación de sistemas de coordenadas es gestionada por PyProj.</a:t>
            </a: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La lectura y escritura de archivos espaciales es gestionada por Fiona.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38619" y="1028700"/>
            <a:ext cx="8020681" cy="4340222"/>
            <a:chOff x="0" y="0"/>
            <a:chExt cx="3845713" cy="20810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713" cy="2081026"/>
            </a:xfrm>
            <a:custGeom>
              <a:avLst/>
              <a:gdLst/>
              <a:ahLst/>
              <a:cxnLst/>
              <a:rect r="r" b="b" t="t" l="l"/>
              <a:pathLst>
                <a:path h="2081026" w="3845713">
                  <a:moveTo>
                    <a:pt x="29923" y="0"/>
                  </a:moveTo>
                  <a:lnTo>
                    <a:pt x="3815791" y="0"/>
                  </a:lnTo>
                  <a:cubicBezTo>
                    <a:pt x="3832316" y="0"/>
                    <a:pt x="3845713" y="13397"/>
                    <a:pt x="3845713" y="29923"/>
                  </a:cubicBezTo>
                  <a:lnTo>
                    <a:pt x="3845713" y="2051104"/>
                  </a:lnTo>
                  <a:cubicBezTo>
                    <a:pt x="3845713" y="2059040"/>
                    <a:pt x="3842561" y="2066651"/>
                    <a:pt x="3836949" y="2072262"/>
                  </a:cubicBezTo>
                  <a:cubicBezTo>
                    <a:pt x="3831337" y="2077874"/>
                    <a:pt x="3823727" y="2081026"/>
                    <a:pt x="3815791" y="2081026"/>
                  </a:cubicBezTo>
                  <a:lnTo>
                    <a:pt x="29923" y="2081026"/>
                  </a:lnTo>
                  <a:cubicBezTo>
                    <a:pt x="21987" y="2081026"/>
                    <a:pt x="14376" y="2077874"/>
                    <a:pt x="8764" y="2072262"/>
                  </a:cubicBezTo>
                  <a:cubicBezTo>
                    <a:pt x="3153" y="2066651"/>
                    <a:pt x="0" y="2059040"/>
                    <a:pt x="0" y="2051104"/>
                  </a:cubicBezTo>
                  <a:lnTo>
                    <a:pt x="0" y="29923"/>
                  </a:lnTo>
                  <a:cubicBezTo>
                    <a:pt x="0" y="21987"/>
                    <a:pt x="3153" y="14376"/>
                    <a:pt x="8764" y="8764"/>
                  </a:cubicBezTo>
                  <a:cubicBezTo>
                    <a:pt x="14376" y="3153"/>
                    <a:pt x="21987" y="0"/>
                    <a:pt x="2992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45713" cy="2119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07620" y="1309770"/>
            <a:ext cx="190900" cy="19090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57094" y="1309770"/>
            <a:ext cx="190900" cy="19090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05546" y="1309770"/>
            <a:ext cx="190900" cy="1909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3841" y="5477442"/>
            <a:ext cx="5882467" cy="3813566"/>
            <a:chOff x="0" y="0"/>
            <a:chExt cx="2744378" cy="1779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2374" y="0"/>
                  </a:moveTo>
                  <a:lnTo>
                    <a:pt x="2722005" y="0"/>
                  </a:lnTo>
                  <a:cubicBezTo>
                    <a:pt x="2734361" y="0"/>
                    <a:pt x="2744378" y="10017"/>
                    <a:pt x="2744378" y="22374"/>
                  </a:cubicBezTo>
                  <a:lnTo>
                    <a:pt x="2744378" y="1756789"/>
                  </a:lnTo>
                  <a:cubicBezTo>
                    <a:pt x="2744378" y="1769146"/>
                    <a:pt x="2734361" y="1779163"/>
                    <a:pt x="2722005" y="1779163"/>
                  </a:cubicBezTo>
                  <a:lnTo>
                    <a:pt x="22374" y="1779163"/>
                  </a:lnTo>
                  <a:cubicBezTo>
                    <a:pt x="10017" y="1779163"/>
                    <a:pt x="0" y="1769146"/>
                    <a:pt x="0" y="1756789"/>
                  </a:cubicBezTo>
                  <a:lnTo>
                    <a:pt x="0" y="22374"/>
                  </a:lnTo>
                  <a:cubicBezTo>
                    <a:pt x="0" y="10017"/>
                    <a:pt x="10017" y="0"/>
                    <a:pt x="223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22440" y="6317082"/>
            <a:ext cx="4536860" cy="2941218"/>
            <a:chOff x="0" y="0"/>
            <a:chExt cx="2744378" cy="17791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9010" y="0"/>
                  </a:moveTo>
                  <a:lnTo>
                    <a:pt x="2715369" y="0"/>
                  </a:lnTo>
                  <a:cubicBezTo>
                    <a:pt x="2731390" y="0"/>
                    <a:pt x="2744378" y="12988"/>
                    <a:pt x="2744378" y="29010"/>
                  </a:cubicBezTo>
                  <a:lnTo>
                    <a:pt x="2744378" y="1750153"/>
                  </a:lnTo>
                  <a:cubicBezTo>
                    <a:pt x="2744378" y="1766175"/>
                    <a:pt x="2731390" y="1779163"/>
                    <a:pt x="2715369" y="1779163"/>
                  </a:cubicBezTo>
                  <a:lnTo>
                    <a:pt x="29010" y="1779163"/>
                  </a:lnTo>
                  <a:cubicBezTo>
                    <a:pt x="12988" y="1779163"/>
                    <a:pt x="0" y="1766175"/>
                    <a:pt x="0" y="1750153"/>
                  </a:cubicBezTo>
                  <a:lnTo>
                    <a:pt x="0" y="29010"/>
                  </a:lnTo>
                  <a:cubicBezTo>
                    <a:pt x="0" y="12988"/>
                    <a:pt x="12988" y="0"/>
                    <a:pt x="29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7753" y="5766308"/>
            <a:ext cx="196194" cy="196194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18532" y="6539870"/>
            <a:ext cx="151315" cy="151315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04146" y="5766308"/>
            <a:ext cx="196194" cy="196194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16276" y="6539870"/>
            <a:ext cx="151315" cy="151315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59489" y="5766308"/>
            <a:ext cx="196194" cy="196194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413209" y="6539870"/>
            <a:ext cx="151315" cy="151315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47753" y="6303173"/>
            <a:ext cx="5134612" cy="2563230"/>
            <a:chOff x="0" y="0"/>
            <a:chExt cx="729766" cy="36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6586" y="0"/>
                  </a:moveTo>
                  <a:lnTo>
                    <a:pt x="713180" y="0"/>
                  </a:lnTo>
                  <a:cubicBezTo>
                    <a:pt x="722340" y="0"/>
                    <a:pt x="729766" y="7426"/>
                    <a:pt x="729766" y="16586"/>
                  </a:cubicBezTo>
                  <a:lnTo>
                    <a:pt x="729766" y="347718"/>
                  </a:lnTo>
                  <a:cubicBezTo>
                    <a:pt x="729766" y="356878"/>
                    <a:pt x="722340" y="364303"/>
                    <a:pt x="713180" y="364303"/>
                  </a:cubicBezTo>
                  <a:lnTo>
                    <a:pt x="16586" y="364303"/>
                  </a:lnTo>
                  <a:cubicBezTo>
                    <a:pt x="7426" y="364303"/>
                    <a:pt x="0" y="356878"/>
                    <a:pt x="0" y="347718"/>
                  </a:cubicBezTo>
                  <a:lnTo>
                    <a:pt x="0" y="16586"/>
                  </a:lnTo>
                  <a:cubicBezTo>
                    <a:pt x="0" y="7426"/>
                    <a:pt x="7426" y="0"/>
                    <a:pt x="1658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045" r="0" b="-304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18532" y="6953928"/>
            <a:ext cx="3960076" cy="1976894"/>
            <a:chOff x="0" y="0"/>
            <a:chExt cx="729766" cy="3643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21505" y="0"/>
                  </a:moveTo>
                  <a:lnTo>
                    <a:pt x="708261" y="0"/>
                  </a:lnTo>
                  <a:cubicBezTo>
                    <a:pt x="713964" y="0"/>
                    <a:pt x="719434" y="2266"/>
                    <a:pt x="723467" y="6299"/>
                  </a:cubicBezTo>
                  <a:cubicBezTo>
                    <a:pt x="727500" y="10332"/>
                    <a:pt x="729766" y="15801"/>
                    <a:pt x="729766" y="21505"/>
                  </a:cubicBezTo>
                  <a:lnTo>
                    <a:pt x="729766" y="342799"/>
                  </a:lnTo>
                  <a:cubicBezTo>
                    <a:pt x="729766" y="354675"/>
                    <a:pt x="720138" y="364303"/>
                    <a:pt x="708261" y="364303"/>
                  </a:cubicBezTo>
                  <a:lnTo>
                    <a:pt x="21505" y="364303"/>
                  </a:lnTo>
                  <a:cubicBezTo>
                    <a:pt x="15801" y="364303"/>
                    <a:pt x="10332" y="362038"/>
                    <a:pt x="6299" y="358005"/>
                  </a:cubicBezTo>
                  <a:cubicBezTo>
                    <a:pt x="2266" y="353972"/>
                    <a:pt x="0" y="348502"/>
                    <a:pt x="0" y="342799"/>
                  </a:cubicBezTo>
                  <a:lnTo>
                    <a:pt x="0" y="21505"/>
                  </a:lnTo>
                  <a:cubicBezTo>
                    <a:pt x="0" y="9628"/>
                    <a:pt x="9628" y="0"/>
                    <a:pt x="2150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204" r="0" b="-12204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312735" y="6129292"/>
            <a:ext cx="4490236" cy="2910992"/>
            <a:chOff x="0" y="0"/>
            <a:chExt cx="2744378" cy="17791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9311" y="0"/>
                  </a:moveTo>
                  <a:lnTo>
                    <a:pt x="2715067" y="0"/>
                  </a:lnTo>
                  <a:cubicBezTo>
                    <a:pt x="2722841" y="0"/>
                    <a:pt x="2730297" y="3088"/>
                    <a:pt x="2735793" y="8585"/>
                  </a:cubicBezTo>
                  <a:cubicBezTo>
                    <a:pt x="2741290" y="14082"/>
                    <a:pt x="2744378" y="21537"/>
                    <a:pt x="2744378" y="29311"/>
                  </a:cubicBezTo>
                  <a:lnTo>
                    <a:pt x="2744378" y="1749852"/>
                  </a:lnTo>
                  <a:cubicBezTo>
                    <a:pt x="2744378" y="1757626"/>
                    <a:pt x="2741290" y="1765081"/>
                    <a:pt x="2735793" y="1770578"/>
                  </a:cubicBezTo>
                  <a:cubicBezTo>
                    <a:pt x="2730297" y="1776075"/>
                    <a:pt x="2722841" y="1779163"/>
                    <a:pt x="2715067" y="1779163"/>
                  </a:cubicBezTo>
                  <a:lnTo>
                    <a:pt x="29311" y="1779163"/>
                  </a:lnTo>
                  <a:cubicBezTo>
                    <a:pt x="21537" y="1779163"/>
                    <a:pt x="14082" y="1776075"/>
                    <a:pt x="8585" y="1770578"/>
                  </a:cubicBezTo>
                  <a:cubicBezTo>
                    <a:pt x="3088" y="1765081"/>
                    <a:pt x="0" y="1757626"/>
                    <a:pt x="0" y="1749852"/>
                  </a:cubicBezTo>
                  <a:lnTo>
                    <a:pt x="0" y="29311"/>
                  </a:lnTo>
                  <a:cubicBezTo>
                    <a:pt x="0" y="21537"/>
                    <a:pt x="3088" y="14082"/>
                    <a:pt x="8585" y="8585"/>
                  </a:cubicBezTo>
                  <a:cubicBezTo>
                    <a:pt x="14082" y="3088"/>
                    <a:pt x="21537" y="0"/>
                    <a:pt x="2931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05785" y="6349791"/>
            <a:ext cx="149760" cy="149760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801496" y="6349791"/>
            <a:ext cx="149760" cy="149760"/>
            <a:chOff x="0" y="0"/>
            <a:chExt cx="6350000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996406" y="6349791"/>
            <a:ext cx="149760" cy="149760"/>
            <a:chOff x="0" y="0"/>
            <a:chExt cx="6350000" cy="635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605785" y="6759593"/>
            <a:ext cx="3919380" cy="1956578"/>
            <a:chOff x="0" y="0"/>
            <a:chExt cx="729766" cy="3643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21728" y="0"/>
                  </a:moveTo>
                  <a:lnTo>
                    <a:pt x="708037" y="0"/>
                  </a:lnTo>
                  <a:cubicBezTo>
                    <a:pt x="713800" y="0"/>
                    <a:pt x="719327" y="2289"/>
                    <a:pt x="723402" y="6364"/>
                  </a:cubicBezTo>
                  <a:cubicBezTo>
                    <a:pt x="727476" y="10439"/>
                    <a:pt x="729766" y="15966"/>
                    <a:pt x="729766" y="21728"/>
                  </a:cubicBezTo>
                  <a:lnTo>
                    <a:pt x="729766" y="342575"/>
                  </a:lnTo>
                  <a:cubicBezTo>
                    <a:pt x="729766" y="354575"/>
                    <a:pt x="720038" y="364303"/>
                    <a:pt x="708037" y="364303"/>
                  </a:cubicBezTo>
                  <a:lnTo>
                    <a:pt x="21728" y="364303"/>
                  </a:lnTo>
                  <a:cubicBezTo>
                    <a:pt x="9728" y="364303"/>
                    <a:pt x="0" y="354575"/>
                    <a:pt x="0" y="342575"/>
                  </a:cubicBezTo>
                  <a:lnTo>
                    <a:pt x="0" y="21728"/>
                  </a:lnTo>
                  <a:cubicBezTo>
                    <a:pt x="0" y="9728"/>
                    <a:pt x="9728" y="0"/>
                    <a:pt x="2172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480" r="0" b="-1648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28700" y="1143000"/>
            <a:ext cx="7160502" cy="299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Funciones principales de GeoPandas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07620" y="2172128"/>
            <a:ext cx="6938505" cy="219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GeoPandas incorpora operaciones espaciales que no existen en pandas tradicional.</a:t>
            </a:r>
          </a:p>
          <a:p>
            <a:pPr algn="just">
              <a:lnSpc>
                <a:spcPts val="2488"/>
              </a:lnSpc>
            </a:pP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to_crs()</a:t>
            </a: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sjoin()</a:t>
            </a: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buffer()</a:t>
            </a:r>
          </a:p>
          <a:p>
            <a:pPr algn="just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difference()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5" y="-402082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07343" y="5143500"/>
            <a:ext cx="9171904" cy="4841986"/>
            <a:chOff x="0" y="0"/>
            <a:chExt cx="4397696" cy="23216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7696" cy="2321610"/>
            </a:xfrm>
            <a:custGeom>
              <a:avLst/>
              <a:gdLst/>
              <a:ahLst/>
              <a:cxnLst/>
              <a:rect r="r" b="b" t="t" l="l"/>
              <a:pathLst>
                <a:path h="2321610" w="4397696">
                  <a:moveTo>
                    <a:pt x="26167" y="0"/>
                  </a:moveTo>
                  <a:lnTo>
                    <a:pt x="4371529" y="0"/>
                  </a:lnTo>
                  <a:cubicBezTo>
                    <a:pt x="4385980" y="0"/>
                    <a:pt x="4397696" y="11715"/>
                    <a:pt x="4397696" y="26167"/>
                  </a:cubicBezTo>
                  <a:lnTo>
                    <a:pt x="4397696" y="2295443"/>
                  </a:lnTo>
                  <a:cubicBezTo>
                    <a:pt x="4397696" y="2309894"/>
                    <a:pt x="4385980" y="2321610"/>
                    <a:pt x="4371529" y="2321610"/>
                  </a:cubicBezTo>
                  <a:lnTo>
                    <a:pt x="26167" y="2321610"/>
                  </a:lnTo>
                  <a:cubicBezTo>
                    <a:pt x="11715" y="2321610"/>
                    <a:pt x="0" y="2309894"/>
                    <a:pt x="0" y="2295443"/>
                  </a:cubicBezTo>
                  <a:lnTo>
                    <a:pt x="0" y="26167"/>
                  </a:lnTo>
                  <a:cubicBezTo>
                    <a:pt x="0" y="11715"/>
                    <a:pt x="11715" y="0"/>
                    <a:pt x="26167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97696" cy="23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6344" y="5424570"/>
            <a:ext cx="190900" cy="19090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5818" y="5424570"/>
            <a:ext cx="190900" cy="19090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74270" y="5424570"/>
            <a:ext cx="190900" cy="1909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3784" y="256246"/>
            <a:ext cx="5256896" cy="3408012"/>
            <a:chOff x="0" y="0"/>
            <a:chExt cx="2744378" cy="1779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036" y="0"/>
                  </a:moveTo>
                  <a:lnTo>
                    <a:pt x="2719342" y="0"/>
                  </a:lnTo>
                  <a:cubicBezTo>
                    <a:pt x="2733169" y="0"/>
                    <a:pt x="2744378" y="11209"/>
                    <a:pt x="2744378" y="25036"/>
                  </a:cubicBezTo>
                  <a:lnTo>
                    <a:pt x="2744378" y="1754127"/>
                  </a:lnTo>
                  <a:cubicBezTo>
                    <a:pt x="2744378" y="1767954"/>
                    <a:pt x="2733169" y="1779163"/>
                    <a:pt x="2719342" y="1779163"/>
                  </a:cubicBezTo>
                  <a:lnTo>
                    <a:pt x="25036" y="1779163"/>
                  </a:lnTo>
                  <a:cubicBezTo>
                    <a:pt x="11209" y="1779163"/>
                    <a:pt x="0" y="1767954"/>
                    <a:pt x="0" y="1754127"/>
                  </a:cubicBezTo>
                  <a:lnTo>
                    <a:pt x="0" y="25036"/>
                  </a:lnTo>
                  <a:cubicBezTo>
                    <a:pt x="0" y="11209"/>
                    <a:pt x="11209" y="0"/>
                    <a:pt x="250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6869" y="514392"/>
            <a:ext cx="175330" cy="17533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5996" y="514392"/>
            <a:ext cx="175330" cy="17533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4184" y="514392"/>
            <a:ext cx="175330" cy="17533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6869" y="994164"/>
            <a:ext cx="4588572" cy="2290643"/>
            <a:chOff x="0" y="0"/>
            <a:chExt cx="729766" cy="36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559" y="0"/>
                  </a:moveTo>
                  <a:lnTo>
                    <a:pt x="711206" y="0"/>
                  </a:lnTo>
                  <a:cubicBezTo>
                    <a:pt x="721456" y="0"/>
                    <a:pt x="729766" y="8309"/>
                    <a:pt x="729766" y="18559"/>
                  </a:cubicBezTo>
                  <a:lnTo>
                    <a:pt x="729766" y="345744"/>
                  </a:lnTo>
                  <a:cubicBezTo>
                    <a:pt x="729766" y="355994"/>
                    <a:pt x="721456" y="364303"/>
                    <a:pt x="711206" y="364303"/>
                  </a:cubicBezTo>
                  <a:lnTo>
                    <a:pt x="18559" y="364303"/>
                  </a:lnTo>
                  <a:cubicBezTo>
                    <a:pt x="8309" y="364303"/>
                    <a:pt x="0" y="355994"/>
                    <a:pt x="0" y="345744"/>
                  </a:cubicBezTo>
                  <a:lnTo>
                    <a:pt x="0" y="18559"/>
                  </a:lnTo>
                  <a:cubicBezTo>
                    <a:pt x="0" y="8309"/>
                    <a:pt x="8309" y="0"/>
                    <a:pt x="1855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2232" r="0" b="-3223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079787" y="1420476"/>
            <a:ext cx="5170259" cy="3351846"/>
            <a:chOff x="0" y="0"/>
            <a:chExt cx="2744378" cy="1779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456" y="0"/>
                  </a:moveTo>
                  <a:lnTo>
                    <a:pt x="2718923" y="0"/>
                  </a:lnTo>
                  <a:cubicBezTo>
                    <a:pt x="2732981" y="0"/>
                    <a:pt x="2744378" y="11397"/>
                    <a:pt x="2744378" y="25456"/>
                  </a:cubicBezTo>
                  <a:lnTo>
                    <a:pt x="2744378" y="1753707"/>
                  </a:lnTo>
                  <a:cubicBezTo>
                    <a:pt x="2744378" y="1767766"/>
                    <a:pt x="2732981" y="1779163"/>
                    <a:pt x="2718923" y="1779163"/>
                  </a:cubicBezTo>
                  <a:lnTo>
                    <a:pt x="25456" y="1779163"/>
                  </a:lnTo>
                  <a:cubicBezTo>
                    <a:pt x="11397" y="1779163"/>
                    <a:pt x="0" y="1767766"/>
                    <a:pt x="0" y="1753707"/>
                  </a:cubicBezTo>
                  <a:lnTo>
                    <a:pt x="0" y="25456"/>
                  </a:lnTo>
                  <a:cubicBezTo>
                    <a:pt x="0" y="11397"/>
                    <a:pt x="11397" y="0"/>
                    <a:pt x="2545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417218" y="1674368"/>
            <a:ext cx="172440" cy="172440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642568" y="1674368"/>
            <a:ext cx="172440" cy="172440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866996" y="1674368"/>
            <a:ext cx="172440" cy="172440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417218" y="2146233"/>
            <a:ext cx="4512950" cy="2252892"/>
            <a:chOff x="0" y="0"/>
            <a:chExt cx="729766" cy="3643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870" y="0"/>
                  </a:moveTo>
                  <a:lnTo>
                    <a:pt x="710895" y="0"/>
                  </a:lnTo>
                  <a:cubicBezTo>
                    <a:pt x="715900" y="0"/>
                    <a:pt x="720700" y="1988"/>
                    <a:pt x="724239" y="5527"/>
                  </a:cubicBezTo>
                  <a:cubicBezTo>
                    <a:pt x="727778" y="9066"/>
                    <a:pt x="729766" y="13866"/>
                    <a:pt x="729766" y="18870"/>
                  </a:cubicBezTo>
                  <a:lnTo>
                    <a:pt x="729766" y="345433"/>
                  </a:lnTo>
                  <a:cubicBezTo>
                    <a:pt x="729766" y="350438"/>
                    <a:pt x="727778" y="355238"/>
                    <a:pt x="724239" y="358776"/>
                  </a:cubicBezTo>
                  <a:cubicBezTo>
                    <a:pt x="720700" y="362315"/>
                    <a:pt x="715900" y="364303"/>
                    <a:pt x="710895" y="364303"/>
                  </a:cubicBezTo>
                  <a:lnTo>
                    <a:pt x="18870" y="364303"/>
                  </a:lnTo>
                  <a:cubicBezTo>
                    <a:pt x="13866" y="364303"/>
                    <a:pt x="9066" y="362315"/>
                    <a:pt x="5527" y="358776"/>
                  </a:cubicBezTo>
                  <a:cubicBezTo>
                    <a:pt x="1988" y="355238"/>
                    <a:pt x="0" y="350438"/>
                    <a:pt x="0" y="345433"/>
                  </a:cubicBezTo>
                  <a:lnTo>
                    <a:pt x="0" y="18870"/>
                  </a:lnTo>
                  <a:cubicBezTo>
                    <a:pt x="0" y="13866"/>
                    <a:pt x="1988" y="9066"/>
                    <a:pt x="5527" y="5527"/>
                  </a:cubicBezTo>
                  <a:cubicBezTo>
                    <a:pt x="9066" y="1988"/>
                    <a:pt x="13866" y="0"/>
                    <a:pt x="1887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957" r="0" b="-195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002404" y="5968304"/>
            <a:ext cx="5256896" cy="3408012"/>
            <a:chOff x="0" y="0"/>
            <a:chExt cx="2744378" cy="17791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036" y="0"/>
                  </a:moveTo>
                  <a:lnTo>
                    <a:pt x="2719342" y="0"/>
                  </a:lnTo>
                  <a:cubicBezTo>
                    <a:pt x="2733169" y="0"/>
                    <a:pt x="2744378" y="11209"/>
                    <a:pt x="2744378" y="25036"/>
                  </a:cubicBezTo>
                  <a:lnTo>
                    <a:pt x="2744378" y="1754127"/>
                  </a:lnTo>
                  <a:cubicBezTo>
                    <a:pt x="2744378" y="1767954"/>
                    <a:pt x="2733169" y="1779163"/>
                    <a:pt x="2719342" y="1779163"/>
                  </a:cubicBezTo>
                  <a:lnTo>
                    <a:pt x="25036" y="1779163"/>
                  </a:lnTo>
                  <a:cubicBezTo>
                    <a:pt x="11209" y="1779163"/>
                    <a:pt x="0" y="1767954"/>
                    <a:pt x="0" y="1754127"/>
                  </a:cubicBezTo>
                  <a:lnTo>
                    <a:pt x="0" y="25036"/>
                  </a:lnTo>
                  <a:cubicBezTo>
                    <a:pt x="0" y="11209"/>
                    <a:pt x="11209" y="0"/>
                    <a:pt x="250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5489" y="6226450"/>
            <a:ext cx="175330" cy="175330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574616" y="6226450"/>
            <a:ext cx="175330" cy="175330"/>
            <a:chOff x="0" y="0"/>
            <a:chExt cx="6350000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802804" y="6226450"/>
            <a:ext cx="175330" cy="175330"/>
            <a:chOff x="0" y="0"/>
            <a:chExt cx="6350000" cy="635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5489" y="6706222"/>
            <a:ext cx="4588572" cy="2290643"/>
            <a:chOff x="0" y="0"/>
            <a:chExt cx="729766" cy="3643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559" y="0"/>
                  </a:moveTo>
                  <a:lnTo>
                    <a:pt x="711206" y="0"/>
                  </a:lnTo>
                  <a:cubicBezTo>
                    <a:pt x="721456" y="0"/>
                    <a:pt x="729766" y="8309"/>
                    <a:pt x="729766" y="18559"/>
                  </a:cubicBezTo>
                  <a:lnTo>
                    <a:pt x="729766" y="345744"/>
                  </a:lnTo>
                  <a:cubicBezTo>
                    <a:pt x="729766" y="355994"/>
                    <a:pt x="721456" y="364303"/>
                    <a:pt x="711206" y="364303"/>
                  </a:cubicBezTo>
                  <a:lnTo>
                    <a:pt x="18559" y="364303"/>
                  </a:lnTo>
                  <a:cubicBezTo>
                    <a:pt x="8309" y="364303"/>
                    <a:pt x="0" y="355994"/>
                    <a:pt x="0" y="345744"/>
                  </a:cubicBezTo>
                  <a:lnTo>
                    <a:pt x="0" y="18559"/>
                  </a:lnTo>
                  <a:cubicBezTo>
                    <a:pt x="0" y="8309"/>
                    <a:pt x="8309" y="0"/>
                    <a:pt x="1855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2235" r="0" b="-42235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310218" y="397683"/>
            <a:ext cx="8724284" cy="400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8"/>
              </a:lnSpc>
            </a:pPr>
            <a:r>
              <a:rPr lang="en-US" b="true" sz="7546">
                <a:solidFill>
                  <a:srgbClr val="07133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GeoPandas como puente entre datos y territorio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7194" y="5939320"/>
            <a:ext cx="7899383" cy="407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GeoPandas conecta la ciencia de datos con la geografía.</a:t>
            </a:r>
          </a:p>
          <a:p>
            <a:pPr algn="l">
              <a:lnSpc>
                <a:spcPts val="2488"/>
              </a:lnSpc>
            </a:pPr>
          </a:p>
          <a:p>
            <a:pPr algn="l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Sirve como puente entre:</a:t>
            </a:r>
          </a:p>
          <a:p>
            <a:pPr algn="l">
              <a:lnSpc>
                <a:spcPts val="2488"/>
              </a:lnSpc>
            </a:pP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Análisis estadístico</a:t>
            </a: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Modelamiento espacial</a:t>
            </a: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Planeación urbana</a:t>
            </a: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Optimización logística</a:t>
            </a: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Análisis de cobertura</a:t>
            </a:r>
          </a:p>
          <a:p>
            <a:pPr algn="l" marL="433282" indent="-216641" lvl="1">
              <a:lnSpc>
                <a:spcPts val="2488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 Marketing territorial</a:t>
            </a:r>
          </a:p>
          <a:p>
            <a:pPr algn="l">
              <a:lnSpc>
                <a:spcPts val="2488"/>
              </a:lnSpc>
            </a:pPr>
          </a:p>
          <a:p>
            <a:pPr algn="l">
              <a:lnSpc>
                <a:spcPts val="248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63854" y="6079809"/>
            <a:ext cx="8020681" cy="3528943"/>
            <a:chOff x="0" y="0"/>
            <a:chExt cx="3845713" cy="16920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713" cy="1692039"/>
            </a:xfrm>
            <a:custGeom>
              <a:avLst/>
              <a:gdLst/>
              <a:ahLst/>
              <a:cxnLst/>
              <a:rect r="r" b="b" t="t" l="l"/>
              <a:pathLst>
                <a:path h="1692039" w="3845713">
                  <a:moveTo>
                    <a:pt x="29923" y="0"/>
                  </a:moveTo>
                  <a:lnTo>
                    <a:pt x="3815791" y="0"/>
                  </a:lnTo>
                  <a:cubicBezTo>
                    <a:pt x="3832316" y="0"/>
                    <a:pt x="3845713" y="13397"/>
                    <a:pt x="3845713" y="29923"/>
                  </a:cubicBezTo>
                  <a:lnTo>
                    <a:pt x="3845713" y="1662116"/>
                  </a:lnTo>
                  <a:cubicBezTo>
                    <a:pt x="3845713" y="1670052"/>
                    <a:pt x="3842561" y="1677663"/>
                    <a:pt x="3836949" y="1683275"/>
                  </a:cubicBezTo>
                  <a:cubicBezTo>
                    <a:pt x="3831337" y="1688886"/>
                    <a:pt x="3823727" y="1692039"/>
                    <a:pt x="3815791" y="1692039"/>
                  </a:cubicBezTo>
                  <a:lnTo>
                    <a:pt x="29923" y="1692039"/>
                  </a:lnTo>
                  <a:cubicBezTo>
                    <a:pt x="21987" y="1692039"/>
                    <a:pt x="14376" y="1688886"/>
                    <a:pt x="8764" y="1683275"/>
                  </a:cubicBezTo>
                  <a:cubicBezTo>
                    <a:pt x="3153" y="1677663"/>
                    <a:pt x="0" y="1670052"/>
                    <a:pt x="0" y="1662116"/>
                  </a:cubicBezTo>
                  <a:lnTo>
                    <a:pt x="0" y="29923"/>
                  </a:lnTo>
                  <a:cubicBezTo>
                    <a:pt x="0" y="21987"/>
                    <a:pt x="3153" y="14376"/>
                    <a:pt x="8764" y="8764"/>
                  </a:cubicBezTo>
                  <a:cubicBezTo>
                    <a:pt x="14376" y="3153"/>
                    <a:pt x="21987" y="0"/>
                    <a:pt x="29923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45713" cy="1730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32855" y="6360879"/>
            <a:ext cx="190900" cy="19090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82329" y="6360879"/>
            <a:ext cx="190900" cy="19090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30781" y="6360879"/>
            <a:ext cx="190900" cy="19090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09333" y="1520177"/>
            <a:ext cx="5170259" cy="3351846"/>
            <a:chOff x="0" y="0"/>
            <a:chExt cx="2744378" cy="17791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456" y="0"/>
                  </a:moveTo>
                  <a:lnTo>
                    <a:pt x="2718923" y="0"/>
                  </a:lnTo>
                  <a:cubicBezTo>
                    <a:pt x="2732981" y="0"/>
                    <a:pt x="2744378" y="11397"/>
                    <a:pt x="2744378" y="25456"/>
                  </a:cubicBezTo>
                  <a:lnTo>
                    <a:pt x="2744378" y="1753707"/>
                  </a:lnTo>
                  <a:cubicBezTo>
                    <a:pt x="2744378" y="1767766"/>
                    <a:pt x="2732981" y="1779163"/>
                    <a:pt x="2718923" y="1779163"/>
                  </a:cubicBezTo>
                  <a:lnTo>
                    <a:pt x="25456" y="1779163"/>
                  </a:lnTo>
                  <a:cubicBezTo>
                    <a:pt x="11397" y="1779163"/>
                    <a:pt x="0" y="1767766"/>
                    <a:pt x="0" y="1753707"/>
                  </a:cubicBezTo>
                  <a:lnTo>
                    <a:pt x="0" y="25456"/>
                  </a:lnTo>
                  <a:cubicBezTo>
                    <a:pt x="0" y="11397"/>
                    <a:pt x="11397" y="0"/>
                    <a:pt x="25456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46764" y="1774069"/>
            <a:ext cx="172440" cy="17244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72114" y="1774069"/>
            <a:ext cx="172440" cy="17244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196542" y="1774069"/>
            <a:ext cx="172440" cy="172440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46764" y="2245934"/>
            <a:ext cx="4512950" cy="2252892"/>
            <a:chOff x="0" y="0"/>
            <a:chExt cx="729766" cy="36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870" y="0"/>
                  </a:moveTo>
                  <a:lnTo>
                    <a:pt x="710895" y="0"/>
                  </a:lnTo>
                  <a:cubicBezTo>
                    <a:pt x="715900" y="0"/>
                    <a:pt x="720700" y="1988"/>
                    <a:pt x="724239" y="5527"/>
                  </a:cubicBezTo>
                  <a:cubicBezTo>
                    <a:pt x="727778" y="9066"/>
                    <a:pt x="729766" y="13866"/>
                    <a:pt x="729766" y="18870"/>
                  </a:cubicBezTo>
                  <a:lnTo>
                    <a:pt x="729766" y="345433"/>
                  </a:lnTo>
                  <a:cubicBezTo>
                    <a:pt x="729766" y="350438"/>
                    <a:pt x="727778" y="355238"/>
                    <a:pt x="724239" y="358776"/>
                  </a:cubicBezTo>
                  <a:cubicBezTo>
                    <a:pt x="720700" y="362315"/>
                    <a:pt x="715900" y="364303"/>
                    <a:pt x="710895" y="364303"/>
                  </a:cubicBezTo>
                  <a:lnTo>
                    <a:pt x="18870" y="364303"/>
                  </a:lnTo>
                  <a:cubicBezTo>
                    <a:pt x="13866" y="364303"/>
                    <a:pt x="9066" y="362315"/>
                    <a:pt x="5527" y="358776"/>
                  </a:cubicBezTo>
                  <a:cubicBezTo>
                    <a:pt x="1988" y="355238"/>
                    <a:pt x="0" y="350438"/>
                    <a:pt x="0" y="345433"/>
                  </a:cubicBezTo>
                  <a:lnTo>
                    <a:pt x="0" y="18870"/>
                  </a:lnTo>
                  <a:cubicBezTo>
                    <a:pt x="0" y="13866"/>
                    <a:pt x="1988" y="9066"/>
                    <a:pt x="5527" y="5527"/>
                  </a:cubicBezTo>
                  <a:cubicBezTo>
                    <a:pt x="9066" y="1988"/>
                    <a:pt x="13866" y="0"/>
                    <a:pt x="188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681" r="0" b="-2068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29887" y="3954013"/>
            <a:ext cx="5256896" cy="3408012"/>
            <a:chOff x="0" y="0"/>
            <a:chExt cx="2744378" cy="1779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25036" y="0"/>
                  </a:moveTo>
                  <a:lnTo>
                    <a:pt x="2719342" y="0"/>
                  </a:lnTo>
                  <a:cubicBezTo>
                    <a:pt x="2733169" y="0"/>
                    <a:pt x="2744378" y="11209"/>
                    <a:pt x="2744378" y="25036"/>
                  </a:cubicBezTo>
                  <a:lnTo>
                    <a:pt x="2744378" y="1754127"/>
                  </a:lnTo>
                  <a:cubicBezTo>
                    <a:pt x="2744378" y="1767954"/>
                    <a:pt x="2733169" y="1779163"/>
                    <a:pt x="2719342" y="1779163"/>
                  </a:cubicBezTo>
                  <a:lnTo>
                    <a:pt x="25036" y="1779163"/>
                  </a:lnTo>
                  <a:cubicBezTo>
                    <a:pt x="11209" y="1779163"/>
                    <a:pt x="0" y="1767954"/>
                    <a:pt x="0" y="1754127"/>
                  </a:cubicBezTo>
                  <a:lnTo>
                    <a:pt x="0" y="25036"/>
                  </a:lnTo>
                  <a:cubicBezTo>
                    <a:pt x="0" y="11209"/>
                    <a:pt x="11209" y="0"/>
                    <a:pt x="250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1028700"/>
            <a:ext cx="3501259" cy="2269844"/>
            <a:chOff x="0" y="0"/>
            <a:chExt cx="2744378" cy="1779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4378" cy="1779163"/>
            </a:xfrm>
            <a:custGeom>
              <a:avLst/>
              <a:gdLst/>
              <a:ahLst/>
              <a:cxnLst/>
              <a:rect r="r" b="b" t="t" l="l"/>
              <a:pathLst>
                <a:path h="1779163" w="2744378">
                  <a:moveTo>
                    <a:pt x="37590" y="0"/>
                  </a:moveTo>
                  <a:lnTo>
                    <a:pt x="2706788" y="0"/>
                  </a:lnTo>
                  <a:cubicBezTo>
                    <a:pt x="2716758" y="0"/>
                    <a:pt x="2726319" y="3960"/>
                    <a:pt x="2733368" y="11010"/>
                  </a:cubicBezTo>
                  <a:cubicBezTo>
                    <a:pt x="2740418" y="18059"/>
                    <a:pt x="2744378" y="27621"/>
                    <a:pt x="2744378" y="37590"/>
                  </a:cubicBezTo>
                  <a:lnTo>
                    <a:pt x="2744378" y="1741573"/>
                  </a:lnTo>
                  <a:cubicBezTo>
                    <a:pt x="2744378" y="1751543"/>
                    <a:pt x="2740418" y="1761104"/>
                    <a:pt x="2733368" y="1768153"/>
                  </a:cubicBezTo>
                  <a:cubicBezTo>
                    <a:pt x="2726319" y="1775203"/>
                    <a:pt x="2716758" y="1779163"/>
                    <a:pt x="2706788" y="1779163"/>
                  </a:cubicBezTo>
                  <a:lnTo>
                    <a:pt x="37590" y="1779163"/>
                  </a:lnTo>
                  <a:cubicBezTo>
                    <a:pt x="27621" y="1779163"/>
                    <a:pt x="18059" y="1775203"/>
                    <a:pt x="11010" y="1768153"/>
                  </a:cubicBezTo>
                  <a:cubicBezTo>
                    <a:pt x="3960" y="1761104"/>
                    <a:pt x="0" y="1751543"/>
                    <a:pt x="0" y="1741573"/>
                  </a:cubicBezTo>
                  <a:lnTo>
                    <a:pt x="0" y="37590"/>
                  </a:lnTo>
                  <a:cubicBezTo>
                    <a:pt x="0" y="27621"/>
                    <a:pt x="3960" y="18059"/>
                    <a:pt x="11010" y="11010"/>
                  </a:cubicBezTo>
                  <a:cubicBezTo>
                    <a:pt x="18059" y="3960"/>
                    <a:pt x="27621" y="0"/>
                    <a:pt x="375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744378" cy="1817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72971" y="4212160"/>
            <a:ext cx="175330" cy="175330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57205" y="1200634"/>
            <a:ext cx="116775" cy="116775"/>
            <a:chOff x="0" y="0"/>
            <a:chExt cx="6350000" cy="635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002098" y="4212160"/>
            <a:ext cx="175330" cy="175330"/>
            <a:chOff x="0" y="0"/>
            <a:chExt cx="6350000" cy="635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09811" y="1200634"/>
            <a:ext cx="116775" cy="116775"/>
            <a:chOff x="0" y="0"/>
            <a:chExt cx="6350000" cy="635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30287" y="4212160"/>
            <a:ext cx="175330" cy="175330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61792" y="1200634"/>
            <a:ext cx="116775" cy="116775"/>
            <a:chOff x="0" y="0"/>
            <a:chExt cx="6350000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772971" y="4691932"/>
            <a:ext cx="4588572" cy="2290643"/>
            <a:chOff x="0" y="0"/>
            <a:chExt cx="729766" cy="3643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18559" y="0"/>
                  </a:moveTo>
                  <a:lnTo>
                    <a:pt x="711206" y="0"/>
                  </a:lnTo>
                  <a:cubicBezTo>
                    <a:pt x="721456" y="0"/>
                    <a:pt x="729766" y="8309"/>
                    <a:pt x="729766" y="18559"/>
                  </a:cubicBezTo>
                  <a:lnTo>
                    <a:pt x="729766" y="345744"/>
                  </a:lnTo>
                  <a:cubicBezTo>
                    <a:pt x="729766" y="355994"/>
                    <a:pt x="721456" y="364303"/>
                    <a:pt x="711206" y="364303"/>
                  </a:cubicBezTo>
                  <a:lnTo>
                    <a:pt x="18559" y="364303"/>
                  </a:lnTo>
                  <a:cubicBezTo>
                    <a:pt x="8309" y="364303"/>
                    <a:pt x="0" y="355994"/>
                    <a:pt x="0" y="345744"/>
                  </a:cubicBezTo>
                  <a:lnTo>
                    <a:pt x="0" y="18559"/>
                  </a:lnTo>
                  <a:cubicBezTo>
                    <a:pt x="0" y="8309"/>
                    <a:pt x="8309" y="0"/>
                    <a:pt x="1855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730" r="0" b="-1673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57205" y="1520177"/>
            <a:ext cx="3056134" cy="1525641"/>
            <a:chOff x="0" y="0"/>
            <a:chExt cx="729766" cy="3643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9766" cy="364303"/>
            </a:xfrm>
            <a:custGeom>
              <a:avLst/>
              <a:gdLst/>
              <a:ahLst/>
              <a:cxnLst/>
              <a:rect r="r" b="b" t="t" l="l"/>
              <a:pathLst>
                <a:path h="364303" w="729766">
                  <a:moveTo>
                    <a:pt x="27866" y="0"/>
                  </a:moveTo>
                  <a:lnTo>
                    <a:pt x="701900" y="0"/>
                  </a:lnTo>
                  <a:cubicBezTo>
                    <a:pt x="709290" y="0"/>
                    <a:pt x="716378" y="2936"/>
                    <a:pt x="721604" y="8162"/>
                  </a:cubicBezTo>
                  <a:cubicBezTo>
                    <a:pt x="726830" y="13387"/>
                    <a:pt x="729766" y="20475"/>
                    <a:pt x="729766" y="27866"/>
                  </a:cubicBezTo>
                  <a:lnTo>
                    <a:pt x="729766" y="336438"/>
                  </a:lnTo>
                  <a:cubicBezTo>
                    <a:pt x="729766" y="351828"/>
                    <a:pt x="717290" y="364303"/>
                    <a:pt x="701900" y="364303"/>
                  </a:cubicBezTo>
                  <a:lnTo>
                    <a:pt x="27866" y="364303"/>
                  </a:lnTo>
                  <a:cubicBezTo>
                    <a:pt x="20475" y="364303"/>
                    <a:pt x="13387" y="361368"/>
                    <a:pt x="8162" y="356142"/>
                  </a:cubicBezTo>
                  <a:cubicBezTo>
                    <a:pt x="2936" y="350916"/>
                    <a:pt x="0" y="343828"/>
                    <a:pt x="0" y="336438"/>
                  </a:cubicBezTo>
                  <a:lnTo>
                    <a:pt x="0" y="27866"/>
                  </a:lnTo>
                  <a:cubicBezTo>
                    <a:pt x="0" y="20475"/>
                    <a:pt x="2936" y="13387"/>
                    <a:pt x="8162" y="8162"/>
                  </a:cubicBezTo>
                  <a:cubicBezTo>
                    <a:pt x="13387" y="2936"/>
                    <a:pt x="20475" y="0"/>
                    <a:pt x="2786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772" r="0" b="-16772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373980" y="3612869"/>
            <a:ext cx="7160502" cy="200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546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Importancia de GeoPandas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332855" y="6760550"/>
            <a:ext cx="6938505" cy="249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"GeoPandas no es simplemente dibujar mapas. Es llevar el paradigma de análisis tabular de pandas al espacio geográfico."</a:t>
            </a:r>
          </a:p>
          <a:p>
            <a:pPr algn="l">
              <a:lnSpc>
                <a:spcPts val="2488"/>
              </a:lnSpc>
            </a:pPr>
          </a:p>
          <a:p>
            <a:pPr algn="l">
              <a:lnSpc>
                <a:spcPts val="2488"/>
              </a:lnSpc>
            </a:pPr>
            <a:r>
              <a:rPr lang="en-US" sz="2006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GeoPandas permite integrar análisis de datos con análisis territorial.</a:t>
            </a:r>
          </a:p>
          <a:p>
            <a:pPr algn="l">
              <a:lnSpc>
                <a:spcPts val="2488"/>
              </a:lnSpc>
            </a:pPr>
          </a:p>
          <a:p>
            <a:pPr algn="l">
              <a:lnSpc>
                <a:spcPts val="248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8788" y="4920825"/>
            <a:ext cx="13765247" cy="52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38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https://github.com/MLDante/Ejemplo-GeoPandas.git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74748" y="3555728"/>
            <a:ext cx="6938505" cy="163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Link al repositorio de GitHub con ejemplo</a:t>
            </a:r>
          </a:p>
          <a:p>
            <a:pPr algn="ctr">
              <a:lnSpc>
                <a:spcPts val="43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C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310328" y="2507357"/>
            <a:ext cx="11667345" cy="5272285"/>
            <a:chOff x="0" y="0"/>
            <a:chExt cx="2744378" cy="1240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4378" cy="1240140"/>
            </a:xfrm>
            <a:custGeom>
              <a:avLst/>
              <a:gdLst/>
              <a:ahLst/>
              <a:cxnLst/>
              <a:rect r="r" b="b" t="t" l="l"/>
              <a:pathLst>
                <a:path h="1240140" w="2744378">
                  <a:moveTo>
                    <a:pt x="33841" y="0"/>
                  </a:moveTo>
                  <a:lnTo>
                    <a:pt x="2710537" y="0"/>
                  </a:lnTo>
                  <a:cubicBezTo>
                    <a:pt x="2719512" y="0"/>
                    <a:pt x="2728120" y="3565"/>
                    <a:pt x="2734466" y="9912"/>
                  </a:cubicBezTo>
                  <a:cubicBezTo>
                    <a:pt x="2740813" y="16258"/>
                    <a:pt x="2744378" y="24866"/>
                    <a:pt x="2744378" y="33841"/>
                  </a:cubicBezTo>
                  <a:lnTo>
                    <a:pt x="2744378" y="1206299"/>
                  </a:lnTo>
                  <a:cubicBezTo>
                    <a:pt x="2744378" y="1215274"/>
                    <a:pt x="2740813" y="1223882"/>
                    <a:pt x="2734466" y="1230228"/>
                  </a:cubicBezTo>
                  <a:cubicBezTo>
                    <a:pt x="2728120" y="1236575"/>
                    <a:pt x="2719512" y="1240140"/>
                    <a:pt x="2710537" y="1240140"/>
                  </a:cubicBezTo>
                  <a:lnTo>
                    <a:pt x="33841" y="1240140"/>
                  </a:lnTo>
                  <a:cubicBezTo>
                    <a:pt x="24866" y="1240140"/>
                    <a:pt x="16258" y="1236575"/>
                    <a:pt x="9912" y="1230228"/>
                  </a:cubicBezTo>
                  <a:cubicBezTo>
                    <a:pt x="3565" y="1223882"/>
                    <a:pt x="0" y="1215274"/>
                    <a:pt x="0" y="1206299"/>
                  </a:cubicBezTo>
                  <a:lnTo>
                    <a:pt x="0" y="33841"/>
                  </a:lnTo>
                  <a:cubicBezTo>
                    <a:pt x="0" y="24866"/>
                    <a:pt x="3565" y="16258"/>
                    <a:pt x="9912" y="9912"/>
                  </a:cubicBezTo>
                  <a:cubicBezTo>
                    <a:pt x="16258" y="3565"/>
                    <a:pt x="24866" y="0"/>
                    <a:pt x="33841" y="0"/>
                  </a:cubicBezTo>
                  <a:close/>
                </a:path>
              </a:pathLst>
            </a:custGeom>
            <a:solidFill>
              <a:srgbClr val="0713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44378" cy="1278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75898" y="4289935"/>
            <a:ext cx="7988050" cy="191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54"/>
              </a:lnSpc>
            </a:pPr>
            <a:r>
              <a:rPr lang="en-US" sz="14091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Gracias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71782" y="3080297"/>
            <a:ext cx="389134" cy="389134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80314" y="3080297"/>
            <a:ext cx="389134" cy="38913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86765" y="3080297"/>
            <a:ext cx="389134" cy="38913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DAHBIEL5FMM</dc:identifier>
  <dcterms:modified xsi:type="dcterms:W3CDTF">2011-08-01T06:04:30Z</dcterms:modified>
  <cp:revision>1</cp:revision>
  <dc:title>GeoPandas</dc:title>
</cp:coreProperties>
</file>